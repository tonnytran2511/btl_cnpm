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9cd7f2496045c6" /><Relationship Type="http://schemas.openxmlformats.org/officeDocument/2006/relationships/extended-properties" Target="/docProps/app.xml" Id="R280e8bacd8ec4776" /><Relationship Type="http://schemas.openxmlformats.org/officeDocument/2006/relationships/officeDocument" Target="/ppt/presentation.xml" Id="R37759a0be73d4f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503461114941bf"/>
  </p:sldMasterIdLst>
  <p:notesMasterIdLst>
    <p:notesMasterId xmlns:r="http://schemas.openxmlformats.org/officeDocument/2006/relationships" r:id="R3e9fd6785fa84fb0"/>
  </p:notesMasterIdLst>
  <p:sldIdLst>
    <p:sldId xmlns:r="http://schemas.openxmlformats.org/officeDocument/2006/relationships" id="256" r:id="R5357fd16d02a4b04"/>
    <p:sldId xmlns:r="http://schemas.openxmlformats.org/officeDocument/2006/relationships" id="257" r:id="R4538511705c341c9"/>
    <p:sldId xmlns:r="http://schemas.openxmlformats.org/officeDocument/2006/relationships" id="258" r:id="Red5e9930d7e14353"/>
    <p:sldId xmlns:r="http://schemas.openxmlformats.org/officeDocument/2006/relationships" id="259" r:id="Rb0db947705884136"/>
    <p:sldId xmlns:r="http://schemas.openxmlformats.org/officeDocument/2006/relationships" id="260" r:id="R22fb7431c3f94a97"/>
    <p:sldId xmlns:r="http://schemas.openxmlformats.org/officeDocument/2006/relationships" id="261" r:id="Re13dbb6666594342"/>
    <p:sldId xmlns:r="http://schemas.openxmlformats.org/officeDocument/2006/relationships" id="262" r:id="R013bad55030849bc"/>
    <p:sldId xmlns:r="http://schemas.openxmlformats.org/officeDocument/2006/relationships" id="263" r:id="Recaa495433b6455f"/>
    <p:sldId xmlns:r="http://schemas.openxmlformats.org/officeDocument/2006/relationships" id="264" r:id="R603a2ceb3695441e"/>
    <p:sldId xmlns:r="http://schemas.openxmlformats.org/officeDocument/2006/relationships" id="265" r:id="R14ae1f075db046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51e9a38fa54527" /><Relationship Type="http://schemas.openxmlformats.org/officeDocument/2006/relationships/slideMaster" Target="/ppt/slideMasters/slideMaster1.xml" Id="R18503461114941bf" /><Relationship Type="http://schemas.openxmlformats.org/officeDocument/2006/relationships/notesMaster" Target="/ppt/notesMasters/notesMaster1.xml" Id="R3e9fd6785fa84fb0" /><Relationship Type="http://schemas.openxmlformats.org/officeDocument/2006/relationships/presProps" Target="/ppt/presProps.xml" Id="R2e7958ba93be4342" /><Relationship Type="http://schemas.openxmlformats.org/officeDocument/2006/relationships/tableStyles" Target="/ppt/tableStyles.xml" Id="Rc5366c40a3cf4466" /><Relationship Type="http://schemas.openxmlformats.org/officeDocument/2006/relationships/slide" Target="/ppt/slides/slide1.xml" Id="R5357fd16d02a4b04" /><Relationship Type="http://schemas.openxmlformats.org/officeDocument/2006/relationships/slide" Target="/ppt/slides/slide2.xml" Id="R4538511705c341c9" /><Relationship Type="http://schemas.openxmlformats.org/officeDocument/2006/relationships/slide" Target="/ppt/slides/slide3.xml" Id="Red5e9930d7e14353" /><Relationship Type="http://schemas.openxmlformats.org/officeDocument/2006/relationships/slide" Target="/ppt/slides/slide4.xml" Id="Rb0db947705884136" /><Relationship Type="http://schemas.openxmlformats.org/officeDocument/2006/relationships/slide" Target="/ppt/slides/slide5.xml" Id="R22fb7431c3f94a97" /><Relationship Type="http://schemas.openxmlformats.org/officeDocument/2006/relationships/slide" Target="/ppt/slides/slide6.xml" Id="Re13dbb6666594342" /><Relationship Type="http://schemas.openxmlformats.org/officeDocument/2006/relationships/slide" Target="/ppt/slides/slide7.xml" Id="R013bad55030849bc" /><Relationship Type="http://schemas.openxmlformats.org/officeDocument/2006/relationships/slide" Target="/ppt/slides/slide8.xml" Id="Recaa495433b6455f" /><Relationship Type="http://schemas.openxmlformats.org/officeDocument/2006/relationships/slide" Target="/ppt/slides/slide9.xml" Id="R603a2ceb3695441e" /><Relationship Type="http://schemas.openxmlformats.org/officeDocument/2006/relationships/slide" Target="/ppt/slides/slide10.xml" Id="R14ae1f075db046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66b09926f147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d89b71e5a74dfd" /><Relationship Type="http://schemas.openxmlformats.org/officeDocument/2006/relationships/notesMaster" Target="/ppt/notesMasters/notesMaster1.xml" Id="R7a3f5d50f00740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ab939b76b0457d" /><Relationship Type="http://schemas.openxmlformats.org/officeDocument/2006/relationships/notesMaster" Target="/ppt/notesMasters/notesMaster1.xml" Id="Rc3fcae1495b241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3ccf27b11d449e" /><Relationship Type="http://schemas.openxmlformats.org/officeDocument/2006/relationships/notesMaster" Target="/ppt/notesMasters/notesMaster1.xml" Id="R86f318c765964c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44f00a9354a41e4" /><Relationship Type="http://schemas.openxmlformats.org/officeDocument/2006/relationships/notesMaster" Target="/ppt/notesMasters/notesMaster1.xml" Id="R0acae5a516fa44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fca8df6fe247d2" /><Relationship Type="http://schemas.openxmlformats.org/officeDocument/2006/relationships/notesMaster" Target="/ppt/notesMasters/notesMaster1.xml" Id="R56727320a01142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93bbf5784b4178" /><Relationship Type="http://schemas.openxmlformats.org/officeDocument/2006/relationships/notesMaster" Target="/ppt/notesMasters/notesMaster1.xml" Id="Rc53b72a0e6f644a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3f05b1407e4bd6" /><Relationship Type="http://schemas.openxmlformats.org/officeDocument/2006/relationships/notesMaster" Target="/ppt/notesMasters/notesMaster1.xml" Id="Rcf6af21f18d540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f1e84a8c5a4499" /><Relationship Type="http://schemas.openxmlformats.org/officeDocument/2006/relationships/notesMaster" Target="/ppt/notesMasters/notesMaster1.xml" Id="Rcbfd4198aa9347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5aed4eb527461d" /><Relationship Type="http://schemas.openxmlformats.org/officeDocument/2006/relationships/notesMaster" Target="/ppt/notesMasters/notesMaster1.xml" Id="Rdbec6e1bdae2499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2de6b17b1494b34" /><Relationship Type="http://schemas.openxmlformats.org/officeDocument/2006/relationships/notesMaster" Target="/ppt/notesMasters/notesMaster1.xml" Id="R75268ad9525a44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Minh Tường, 00:00–00:30. Giới thiệu nhóm năm người và mục tiêu điều phối tài nguyên điện trong ĐHQG–HCM. Nguồn: Assignment_SoftwareEngineering_HK261.pdf, docs/reports/system-report.md §1.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Minh Tường, 00:30–01:30. Sinh viên sở hữu lượt đặt/chuyến/xe cá nhân. Operator quản lý tài nguyên chung. Scheduler/database là thành phần bên trong ranh giới hệ thống. Dữ liệu giả lập được phép, UI đọc trạng thái qua API. Nguồn: system-report.md §1–2, use-cases.md.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Minh Tường, 01:30–03:00. AuthGuard chạy trước DTO/controller. Backend service quyết định quyền và trạng thái, repository giữ SQL. Trip/Operations gọi AllocationPort và service owner với cùng PoolClient. Monolith theo module giảm distributed transaction, đổi lại phải review migration/lock order chung. Nguồn: docs/architecture.md, docs/diagrams/integrated-design.md, AGENTS.md.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Duy Tân, 03:00–06:00. available → reserved → in_use → available. Hủy/hết hạn nhả xe. Pickup kiểm tra expiry/pin/incident/Hub sau khóa. Return chỉ completed sau khi claim chỗ đích. Unique active reservation và actor/operation idempotency chặn hiệu ứng trùng. Hub gợi ý không giữ chỗ. Nguồn: docs/use-cases.md UC03–06, trip/reservation/rental-hardening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 Anh, 06:00–09:00. Lịch [start,end) tách vị trí vật lý, xe quá giờ vẫn occupied. Priority dựa maximum wait, requiredBy, low battery và tie-break từ settings. queued chưa giữ xe; scheduled giữ cổng và xe thuê charging. Complete/cancel khi đã chạy cần pin quan sát. Hỏng chưa đạt target requeue giữ createdAt; repair không hồi sinh session cũ. Nguồn: allocation-safety.md, charging-scheduler.md, charging-failure-recovery.md.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Quỳnh Anh, 09:00–11:30. Create pending chưa di chuyển xe; start giữ xe redistributing. Complete release nguồn/claim đích/cập nhật xe/order/log trong cùng transaction. Đích đầy rollback giữ in_progress, không log completed giả. Incident xe chặn cấp mới, không tự cứu hộ trip. Hub inactive không tự hủy cam kết cũ. Nguồn: docs/architecture.md, operations.test.mjs và demo/evidence/week23/operations.png.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Minh Khuê, 11:30–14:30. demand_surge: xe rời một lần. parking_full: arrivals giữ chỗ hết horizon. charging_failure: service time thử công khai, không tính năng lượng thật. Cùng snapshot/seed/params/limits/model tái lập. LCG stochastic rounding, không Poisson. Recommendation không giữ tài nguyên, thực thi qua lệnh riêng và revalidate. History key mới có thể lấy snapshot khác. Nguồn: docs/scenarios.md, scenarios.test.mjs, scenarios-check.mjs.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Minh Tường giới thiệu kiểm thử trước video và giải thích trong phần kết 17:30–20:00. Lần cài mới 17:41 ngày 28/10: 130 backend + 62 frontend pass. 32 route families × anonymous/student là 64 responses trong một regression, không cộng thành 64 tests. W23-R01 kiểm tra shutdown với HMR socket thật và dọn DB tạm. Không suy ra mọi interleaving/NFR tải đã đạt. Nguồn: docs/test-runs/2026-10-28-release.md, traceability và tests/release-check.mjs/demo-shutdown.test.mjs.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Video quay thực 180 giây trên Chromium và DB tạm; phát Demo-3-phut.mp4 trong bộ bàn giao tại 14:30–17:30. Có rút ngắn thời gian chờ đặt đỗ. Giọng đọc tổng hợp macOS Linh, Codex hỗ trợ lời dẫn. Nguồn: docs/reports/demo-narration.md và demo/evidence/week23/recorded-ui-verification.json.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Minh Tường, 17:30–20:00. Giới hạn model chưa hiệu chuẩn, chưa telemetry/hao pin, chưa cứu hộ trip hoặc tự phân bổ sạc, chưa đo tải production. Codex hỗ trợ code/review/test/tài liệu; mỗi thành viên phải đọc, xác nhận và giải thích phần mình. Peer review/rehearsal/nộp bài cần bằng chứng riêng. Nguồn: docs/reports/system-report.md §5–6, docs/ai-usage.md.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866c462f1a46b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525ef49592489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298554adc043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29894470f848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651c7cd3d64a1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8ef751bc8d4f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92801B-1897-4E57-AD01-2B05F177B9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153F273-6636-48C5-A07E-C196729A6D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995E8CF-FBCF-4501-B536-D7A1E1C002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8F64CF-52F0-4ED9-9F69-B5A36510A2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BC3256F-6635-48C6-B8DE-234AE5D8C4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4C4A8A1-2E34-4DCC-A057-A0550C105E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A77A7D5-5B41-426D-8511-801A12F5C8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34AE8CF-FAFC-456E-B585-67189FB59A8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0006ED-DDCB-4F43-9C47-6CA184DE18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BB14D58-21E2-4D66-9B68-76AD0EB2C9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4e4b51160e4994" /><Relationship Type="http://schemas.openxmlformats.org/officeDocument/2006/relationships/slideLayout" Target="/ppt/slideLayouts/slideLayout1.xml" Id="Rdcfffdb361914cbf" /><Relationship Type="http://schemas.openxmlformats.org/officeDocument/2006/relationships/slideLayout" Target="/ppt/slideLayouts/slideLayout2.xml" Id="Rf375c90be39e4b55" /><Relationship Type="http://schemas.openxmlformats.org/officeDocument/2006/relationships/slideLayout" Target="/ppt/slideLayouts/slideLayout3.xml" Id="R8fc00ff622084939" /><Relationship Type="http://schemas.openxmlformats.org/officeDocument/2006/relationships/slideLayout" Target="/ppt/slideLayouts/slideLayout4.xml" Id="Ref5f8832e8314934" /><Relationship Type="http://schemas.openxmlformats.org/officeDocument/2006/relationships/slideLayout" Target="/ppt/slideLayouts/slideLayout5.xml" Id="R471a4ab6ab0443c7" /><Relationship Type="http://schemas.openxmlformats.org/officeDocument/2006/relationships/slideLayout" Target="/ppt/slideLayouts/slideLayout6.xml" Id="R85718bac50f345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fffdb361914cbf"/>
    <p:sldLayoutId xmlns:r="http://schemas.openxmlformats.org/officeDocument/2006/relationships" id="2147483650" r:id="Rf375c90be39e4b55"/>
    <p:sldLayoutId xmlns:r="http://schemas.openxmlformats.org/officeDocument/2006/relationships" id="2147483651" r:id="R8fc00ff622084939"/>
    <p:sldLayoutId xmlns:r="http://schemas.openxmlformats.org/officeDocument/2006/relationships" id="2147483652" r:id="Ref5f8832e8314934"/>
    <p:sldLayoutId xmlns:r="http://schemas.openxmlformats.org/officeDocument/2006/relationships" id="2147483653" r:id="R471a4ab6ab0443c7"/>
    <p:sldLayoutId xmlns:r="http://schemas.openxmlformats.org/officeDocument/2006/relationships" id="2147483654" r:id="R85718bac50f345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88be653652432e" /><Relationship Type="http://schemas.openxmlformats.org/officeDocument/2006/relationships/notesSlide" Target="/ppt/notesSlides/notesSlide1.xml" Id="R3b21556d33e245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87540fa8bf4001" /><Relationship Type="http://schemas.openxmlformats.org/officeDocument/2006/relationships/notesSlide" Target="/ppt/notesSlides/notesSlide2.xml" Id="Reccb50aaa88248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d8d8cec8c6470d" /><Relationship Type="http://schemas.openxmlformats.org/officeDocument/2006/relationships/notesSlide" Target="/ppt/notesSlides/notesSlide3.xml" Id="R36929bb273e34a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996e4dfd364d40" /><Relationship Type="http://schemas.openxmlformats.org/officeDocument/2006/relationships/notesSlide" Target="/ppt/notesSlides/notesSlide4.xml" Id="R6d85822d26364f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8a9521382e4623" /><Relationship Type="http://schemas.openxmlformats.org/officeDocument/2006/relationships/notesSlide" Target="/ppt/notesSlides/notesSlide5.xml" Id="R7dbafcc41b814e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7f85f387df476d" /><Relationship Type="http://schemas.openxmlformats.org/officeDocument/2006/relationships/notesSlide" Target="/ppt/notesSlides/notesSlide6.xml" Id="Rad22aab8459241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5549c3db4a4d88" /><Relationship Type="http://schemas.openxmlformats.org/officeDocument/2006/relationships/notesSlide" Target="/ppt/notesSlides/notesSlide7.xml" Id="R8fcd0ac3391045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2edcb8bf9f4b24" /><Relationship Type="http://schemas.openxmlformats.org/officeDocument/2006/relationships/notesSlide" Target="/ppt/notesSlides/notesSlide8.xml" Id="R9d6229215e874f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8002fa7f704144" /><Relationship Type="http://schemas.openxmlformats.org/officeDocument/2006/relationships/notesSlide" Target="/ppt/notesSlides/notesSlide9.xml" Id="Rbb23bf2526f043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8e5842531041a4" /><Relationship Type="http://schemas.openxmlformats.org/officeDocument/2006/relationships/notesSlide" Target="/ppt/notesSlides/notesSlide10.xml" Id="R690f390042d347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F38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CDD266-5F97-4597-B6FB-5F359FA9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06680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Smart E-Mobility 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93F5C-E6F2-4AA1-8158-A05D3432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04775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A6DDC9"/>
                </a:solidFill>
                <a:latin typeface="Aptos"/>
                <a:ea typeface="Aptos"/>
                <a:cs typeface="Aptos"/>
              </a:defRPr>
            </a:defPPr>
            <a:lvl1pPr algn="l">
              <a:defRPr sz="225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1pPr>
            <a:lvl2pPr algn="l">
              <a:defRPr sz="225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2pPr>
            <a:lvl3pPr algn="l">
              <a:defRPr sz="225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3pPr>
            <a:lvl4pPr algn="l">
              <a:defRPr sz="225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4pPr>
            <a:lvl5pPr algn="l">
              <a:defRPr sz="225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5pPr>
            <a:lvl6pPr algn="l">
              <a:defRPr sz="225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6pPr>
            <a:lvl7pPr algn="l">
              <a:defRPr sz="225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7pPr>
            <a:lvl8pPr algn="l">
              <a:defRPr sz="225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8pPr>
            <a:lvl9pPr algn="l">
              <a:defRPr sz="225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A6DDC9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A6DDC9"/>
                </a:solidFill>
                <a:latin typeface="Aptos"/>
                <a:ea typeface="Aptos"/>
                <a:cs typeface="Aptos"/>
              </a:rPr>
              <a:t>Điều phối xe điện, chỗ đỗ và sạc</a:t>
            </a:r>
          </a:p>
          <a:p xmlns:a="http://schemas.openxmlformats.org/drawingml/2006/main">
            <a:pPr algn="l">
              <a:defRPr sz="2250">
                <a:solidFill>
                  <a:srgbClr val="A6DDC9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A6DDC9"/>
                </a:solidFill>
                <a:latin typeface="Aptos"/>
                <a:ea typeface="Aptos"/>
                <a:cs typeface="Aptos"/>
              </a:rPr>
              <a:t>Công nghệ phần mềm HK261</a:t>
            </a:r>
          </a:p>
        </p:txBody>
      </p:sp>
    </p:spTree>
    <p:extLst>
      <p:ext uri="{BB962C8B-B14F-4D97-AF65-F5344CB8AC3E}">
        <p14:creationId xmlns:p14="http://schemas.microsoft.com/office/powerpoint/2010/main" val="681612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EB5C2-5353-407E-8824-2A962512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F38"/>
                </a:solidFill>
                <a:latin typeface="Aptos"/>
                <a:ea typeface="Aptos"/>
                <a:cs typeface="Aptos"/>
              </a:rPr>
              <a:t>Người dùng và phạm vi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CA9D6-4752-4414-A08C-F5D668E3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76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7A64"/>
                </a:solidFill>
                <a:latin typeface="Aptos"/>
                <a:ea typeface="Aptos"/>
                <a:cs typeface="Aptos"/>
              </a:rPr>
              <a:t>Sinh viên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DA5E0-0B99-4DCD-84BA-6F3D37DC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0482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Tìm xe đủ pin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Đặt, nhận và trả xe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Xe cá nhân, đỗ và yêu cầu sạc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56CAB-D67B-4ED7-8760-371C6A18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476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7A64"/>
                </a:solidFill>
                <a:latin typeface="Aptos"/>
                <a:ea typeface="Aptos"/>
                <a:cs typeface="Aptos"/>
              </a:rPr>
              <a:t>Người vận hành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D3508A-CF60-4C56-A3E5-E177FF18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81300"/>
            <a:ext cx="495300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Theo dõi và cấu hình tài nguyên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Điều phối sạc, sự cố, điều chuyển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Mô phỏng trước quyết định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178C9-ADFA-4046-87CD-3422C159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63943"/>
                </a:solidFill>
                <a:latin typeface="Aptos"/>
                <a:ea typeface="Aptos"/>
                <a:cs typeface="Aptos"/>
              </a:rPr>
              <a:t>Dữ liệu giả lập có cấu hình. Thanh toán, IoT thật và ML nằm ngoài phạm vi.</a:t>
            </a:r>
          </a:p>
        </p:txBody>
      </p:sp>
    </p:spTree>
    <p:extLst>
      <p:ext uri="{BB962C8B-B14F-4D97-AF65-F5344CB8AC3E}">
        <p14:creationId xmlns:p14="http://schemas.microsoft.com/office/powerpoint/2010/main" val="147317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C60D2-FD0C-4F47-A03D-81536FEE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F38"/>
                </a:solidFill>
                <a:latin typeface="Aptos"/>
                <a:ea typeface="Aptos"/>
                <a:cs typeface="Aptos"/>
              </a:rPr>
              <a:t>Kiến trúc và quyền quyết định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F30D0-1A77-4717-B35D-4410173B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4857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7A64"/>
                </a:solidFill>
                <a:latin typeface="Aptos"/>
                <a:ea typeface="Aptos"/>
                <a:cs typeface="Aptos"/>
              </a:rPr>
              <a:t>React UI và hooks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C1557-EE04-4727-9E99-A885D382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49530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UI hiển thị và nối handler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Hooks quản lý tương tác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API client dùng cookie và deadline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D97BF-3D04-4548-9371-B3541B72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19300"/>
            <a:ext cx="4953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7A64"/>
                </a:solidFill>
                <a:latin typeface="Aptos"/>
                <a:ea typeface="Aptos"/>
                <a:cs typeface="Aptos"/>
              </a:rPr>
              <a:t>NestJS và PostgreSQL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D925D-18DE-4D95-9BF1-9E506BED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49530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Guard xác thực, service quyết định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Repository giữ SQL và transaction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Contract TypeScript dùng chung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4EC9D3-7AC0-4C48-B2E8-AA0E0880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63943"/>
                </a:solidFill>
                <a:latin typeface="Aptos"/>
                <a:ea typeface="Aptos"/>
                <a:cs typeface="Aptos"/>
              </a:rPr>
              <a:t>Module sở hữu tài nguyên. Mutation xuyên module dùng chung transaction.</a:t>
            </a:r>
          </a:p>
        </p:txBody>
      </p:sp>
    </p:spTree>
    <p:extLst>
      <p:ext uri="{BB962C8B-B14F-4D97-AF65-F5344CB8AC3E}">
        <p14:creationId xmlns:p14="http://schemas.microsoft.com/office/powerpoint/2010/main" val="7130480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C9562-5AFA-4416-B0A9-63542255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F38"/>
                </a:solidFill>
                <a:latin typeface="Aptos"/>
                <a:ea typeface="Aptos"/>
                <a:cs typeface="Aptos"/>
              </a:rPr>
              <a:t>Vòng đời thuê xe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804F7-8A23-44CD-BDFF-C0D45CCE9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10477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7A64"/>
                </a:solidFill>
                <a:latin typeface="Aptos"/>
                <a:ea typeface="Aptos"/>
                <a:cs typeface="Aptos"/>
              </a:rPr>
              <a:t>Giữ xe có thời hạn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203983-5D1B-4739-A18E-098705E0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10668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Transaction và unique constraint chặn đặt trùng.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Hủy hoặc hết hạn giải phóng quyền giữ xe.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52BDCB-A8B2-4CDA-86E4-3DE9FFD1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0477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7A64"/>
                </a:solidFill>
                <a:latin typeface="Aptos"/>
                <a:ea typeface="Aptos"/>
                <a:cs typeface="Aptos"/>
              </a:rPr>
              <a:t>Nhận và trả nguyên tử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5FCEC-49A7-46B2-BA0A-E34BB8EE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10668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Trip, xe và chỗ đỗ cùng commit.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Đích đầy giữ trip active, gợi ý Hub khác để thử lại.</a:t>
            </a:r>
          </a:p>
        </p:txBody>
      </p:sp>
    </p:spTree>
    <p:extLst>
      <p:ext uri="{BB962C8B-B14F-4D97-AF65-F5344CB8AC3E}">
        <p14:creationId xmlns:p14="http://schemas.microsoft.com/office/powerpoint/2010/main" val="17692471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244E8-D7AB-49DD-B29A-410CB8BC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F38"/>
                </a:solidFill>
                <a:latin typeface="Aptos"/>
                <a:ea typeface="Aptos"/>
                <a:cs typeface="Aptos"/>
              </a:rPr>
              <a:t>Lịch đỗ và vòng đời sạc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81625-AA27-4F33-BF7F-11B313D1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7A64"/>
                </a:solidFill>
                <a:latin typeface="Aptos"/>
                <a:ea typeface="Aptos"/>
                <a:cs typeface="Aptos"/>
              </a:rPr>
              <a:t>Lịch khác vị trí vật lý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21266-45C3-4A02-91A0-2D3399D4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10668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Đặt tương lai không chiếm chỗ ngay.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Check-in và check-out xác nhận xe đang ở đâu.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98C51-D464-4906-B4B7-A7027662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7A64"/>
                </a:solidFill>
                <a:latin typeface="Aptos"/>
                <a:ea typeface="Aptos"/>
                <a:cs typeface="Aptos"/>
              </a:rPr>
              <a:t>Ưu tiên theo cấu hình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B19D2-830D-43C2-AB2F-C3F87975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10668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Chờ lâu, cần xe sớm và pin thấp.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Cổng hỏng gián đoạn phiên, nhu cầu chưa đủ pin trở lại hàng chờ.</a:t>
            </a:r>
          </a:p>
        </p:txBody>
      </p:sp>
    </p:spTree>
    <p:extLst>
      <p:ext uri="{BB962C8B-B14F-4D97-AF65-F5344CB8AC3E}">
        <p14:creationId xmlns:p14="http://schemas.microsoft.com/office/powerpoint/2010/main" val="5520324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5E5CD-E3F5-4344-806B-A229042A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F38"/>
                </a:solidFill>
                <a:latin typeface="Aptos"/>
                <a:ea typeface="Aptos"/>
                <a:cs typeface="Aptos"/>
              </a:rPr>
              <a:t>Điều chuyển và xử lý sự cố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394A2-1FBB-4F31-8091-57B80401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7A64"/>
                </a:solidFill>
                <a:latin typeface="Aptos"/>
                <a:ea typeface="Aptos"/>
                <a:cs typeface="Aptos"/>
              </a:rPr>
              <a:t>Nguồn và đích được kiểm tra lại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AAEC7-1A04-48D6-B348-21F85B4B0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10668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Xe đang thuê hoặc sạc không thể điều chuyển.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Đích đầy làm rollback toàn bộ thao tác hoàn tất.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7690C6-F3AE-411E-B847-DE63C381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7A64"/>
                </a:solidFill>
                <a:latin typeface="Aptos"/>
                <a:ea typeface="Aptos"/>
                <a:cs typeface="Aptos"/>
              </a:rPr>
              <a:t>Nhật ký cùng transaction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EA4E1-C27D-4B18-8D1E-3C787355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10668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Actor, thời gian và chuyển trạng thái truy vết được.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Cứu hộ chuyến đang chạy còn ngoài phạm vi.</a:t>
            </a:r>
          </a:p>
        </p:txBody>
      </p:sp>
    </p:spTree>
    <p:extLst>
      <p:ext uri="{BB962C8B-B14F-4D97-AF65-F5344CB8AC3E}">
        <p14:creationId xmlns:p14="http://schemas.microsoft.com/office/powerpoint/2010/main" val="9354611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9076E-BB13-46B2-B10A-63B50410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F38"/>
                </a:solidFill>
                <a:latin typeface="Aptos"/>
                <a:ea typeface="Aptos"/>
                <a:cs typeface="Aptos"/>
              </a:rPr>
              <a:t>What-if trên snapshot chỉ đọc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86103-DF32-49AF-B125-EC5368E9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668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defPPr>
            <a:lvl1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1pPr>
            <a:lvl2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2pPr>
            <a:lvl3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3pPr>
            <a:lvl4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4pPr>
            <a:lvl5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5pPr>
            <a:lvl6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6pPr>
            <a:lvl7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7pPr>
            <a:lvl8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8pPr>
            <a:lvl9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7A64"/>
                </a:solidFill>
                <a:latin typeface="Aptos"/>
                <a:ea typeface="Aptos"/>
                <a:cs typeface="Aptos"/>
              </a:rPr>
              <a:t>Tăng nhu cầu, hết chỗ và hỏng cổng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69D91-9D3F-4D38-8052-21DF4783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10668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Baseline và scenario cùng snapshot, seed và mô hình.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Timeline, chỉ số và đề xuất có căn cứ tài nguyên.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Kết quả lưu riêng, không thay đổi vận hành.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6844C-DD5F-4C7C-A14A-062AA407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1800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180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180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180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180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180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180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180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180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180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63943"/>
                </a:solidFill>
                <a:latin typeface="Aptos"/>
                <a:ea typeface="Aptos"/>
                <a:cs typeface="Aptos"/>
              </a:rPr>
              <a:t>Mô hình chưa hiệu chuẩn. Thực thi đề xuất phải qua service và kiểm tra trạng thái mới.</a:t>
            </a:r>
          </a:p>
        </p:txBody>
      </p:sp>
    </p:spTree>
    <p:extLst>
      <p:ext uri="{BB962C8B-B14F-4D97-AF65-F5344CB8AC3E}">
        <p14:creationId xmlns:p14="http://schemas.microsoft.com/office/powerpoint/2010/main" val="5011125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8B8122-BAA9-4296-A540-A56B741F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F38"/>
                </a:solidFill>
                <a:latin typeface="Aptos"/>
                <a:ea typeface="Aptos"/>
                <a:cs typeface="Aptos"/>
              </a:rPr>
              <a:t>Bằng chứng kiểm thử tích hợp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E64A4-CDD3-43AC-9A6C-B1E0D1C8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10668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42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defPPr>
            <a:lvl1pPr algn="l">
              <a:defRPr sz="42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1pPr>
            <a:lvl2pPr algn="l">
              <a:defRPr sz="42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2pPr>
            <a:lvl3pPr algn="l">
              <a:defRPr sz="42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3pPr>
            <a:lvl4pPr algn="l">
              <a:defRPr sz="42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4pPr>
            <a:lvl5pPr algn="l">
              <a:defRPr sz="42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5pPr>
            <a:lvl6pPr algn="l">
              <a:defRPr sz="42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6pPr>
            <a:lvl7pPr algn="l">
              <a:defRPr sz="42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7pPr>
            <a:lvl8pPr algn="l">
              <a:defRPr sz="42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8pPr>
            <a:lvl9pPr algn="l">
              <a:defRPr sz="42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147A64"/>
                </a:solidFill>
                <a:latin typeface="Aptos"/>
                <a:ea typeface="Aptos"/>
                <a:cs typeface="Aptos"/>
              </a:rPr>
              <a:t>130 backend + 62 frontend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C1D88-B44A-4286-915A-CA415686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10668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PostgreSQL / HTTP thật và Vitest / jsdom.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Chuỗi một xe qua thuê, sạc, gián đoạn và điều chuyển.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64 phản hồi kiểm tra quyền trên 32 nhóm endpoint.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60553-77C0-44EE-AB44-0DC5671B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668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725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163943"/>
                </a:solidFill>
                <a:latin typeface="Aptos"/>
                <a:ea typeface="Aptos"/>
                <a:cs typeface="Aptos"/>
              </a:rPr>
              <a:t>Phạm vi test trong execution log · CI Ubuntu + Node 22 · Chưa đo tải.</a:t>
            </a:r>
          </a:p>
        </p:txBody>
      </p:sp>
    </p:spTree>
    <p:extLst>
      <p:ext uri="{BB962C8B-B14F-4D97-AF65-F5344CB8AC3E}">
        <p14:creationId xmlns:p14="http://schemas.microsoft.com/office/powerpoint/2010/main" val="12918519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F38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8D5ACD-A5BB-4F19-8C69-4F300388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10668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Video demo quay sẵn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2BED09-BF6E-4B2A-93CD-96CE96F7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6680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6750" b="1">
                <a:solidFill>
                  <a:srgbClr val="A6DDC9"/>
                </a:solidFill>
                <a:latin typeface="Aptos"/>
                <a:ea typeface="Aptos"/>
                <a:cs typeface="Aptos"/>
              </a:defRPr>
            </a:defPPr>
            <a:lvl1pPr algn="l">
              <a:defRPr sz="6750" b="1">
                <a:solidFill>
                  <a:srgbClr val="A6DDC9"/>
                </a:solidFill>
                <a:latin typeface="Aptos"/>
                <a:ea typeface="Aptos"/>
                <a:cs typeface="Aptos"/>
              </a:defRPr>
            </a:lvl1pPr>
            <a:lvl2pPr algn="l">
              <a:defRPr sz="6750" b="1">
                <a:solidFill>
                  <a:srgbClr val="A6DDC9"/>
                </a:solidFill>
                <a:latin typeface="Aptos"/>
                <a:ea typeface="Aptos"/>
                <a:cs typeface="Aptos"/>
              </a:defRPr>
            </a:lvl2pPr>
            <a:lvl3pPr algn="l">
              <a:defRPr sz="6750" b="1">
                <a:solidFill>
                  <a:srgbClr val="A6DDC9"/>
                </a:solidFill>
                <a:latin typeface="Aptos"/>
                <a:ea typeface="Aptos"/>
                <a:cs typeface="Aptos"/>
              </a:defRPr>
            </a:lvl3pPr>
            <a:lvl4pPr algn="l">
              <a:defRPr sz="6750" b="1">
                <a:solidFill>
                  <a:srgbClr val="A6DDC9"/>
                </a:solidFill>
                <a:latin typeface="Aptos"/>
                <a:ea typeface="Aptos"/>
                <a:cs typeface="Aptos"/>
              </a:defRPr>
            </a:lvl4pPr>
            <a:lvl5pPr algn="l">
              <a:defRPr sz="6750" b="1">
                <a:solidFill>
                  <a:srgbClr val="A6DDC9"/>
                </a:solidFill>
                <a:latin typeface="Aptos"/>
                <a:ea typeface="Aptos"/>
                <a:cs typeface="Aptos"/>
              </a:defRPr>
            </a:lvl5pPr>
            <a:lvl6pPr algn="l">
              <a:defRPr sz="6750" b="1">
                <a:solidFill>
                  <a:srgbClr val="A6DDC9"/>
                </a:solidFill>
                <a:latin typeface="Aptos"/>
                <a:ea typeface="Aptos"/>
                <a:cs typeface="Aptos"/>
              </a:defRPr>
            </a:lvl6pPr>
            <a:lvl7pPr algn="l">
              <a:defRPr sz="6750" b="1">
                <a:solidFill>
                  <a:srgbClr val="A6DDC9"/>
                </a:solidFill>
                <a:latin typeface="Aptos"/>
                <a:ea typeface="Aptos"/>
                <a:cs typeface="Aptos"/>
              </a:defRPr>
            </a:lvl7pPr>
            <a:lvl8pPr algn="l">
              <a:defRPr sz="6750" b="1">
                <a:solidFill>
                  <a:srgbClr val="A6DDC9"/>
                </a:solidFill>
                <a:latin typeface="Aptos"/>
                <a:ea typeface="Aptos"/>
                <a:cs typeface="Aptos"/>
              </a:defRPr>
            </a:lvl8pPr>
            <a:lvl9pPr algn="l">
              <a:defRPr sz="6750" b="1">
                <a:solidFill>
                  <a:srgbClr val="A6DDC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6750" b="1">
                <a:solidFill>
                  <a:srgbClr val="A6DDC9"/>
                </a:solidFill>
                <a:latin typeface="Aptos"/>
                <a:ea typeface="Aptos"/>
                <a:cs typeface="Aptos"/>
              </a:defRPr>
            </a:pPr>
            <a:r>
              <a:rPr sz="6750" b="1">
                <a:solidFill>
                  <a:srgbClr val="A6DDC9"/>
                </a:solidFill>
                <a:latin typeface="Aptos"/>
                <a:ea typeface="Aptos"/>
                <a:cs typeface="Aptos"/>
              </a:rPr>
              <a:t>03:00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F5BBB-1904-4608-B5B0-AAFD8885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0668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400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 algn="l">
              <a:defRPr sz="24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 algn="l">
              <a:defRPr sz="24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 algn="l">
              <a:defRPr sz="24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 algn="l">
              <a:defRPr sz="24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 algn="l">
              <a:defRPr sz="24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 algn="l">
              <a:defRPr sz="24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 algn="l">
              <a:defRPr sz="24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 algn="l">
              <a:defRPr sz="24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 algn="l">
              <a:defRPr sz="24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4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>
                <a:solidFill>
                  <a:srgbClr val="FFFFFF"/>
                </a:solidFill>
                <a:latin typeface="Aptos"/>
                <a:ea typeface="Aptos"/>
                <a:cs typeface="Aptos"/>
              </a:rPr>
              <a:t>Thuê và trả xe. Đỗ và sạc.</a:t>
            </a:r>
          </a:p>
          <a:p xmlns:a="http://schemas.openxmlformats.org/drawingml/2006/main">
            <a:pPr algn="l">
              <a:defRPr sz="24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>
                <a:solidFill>
                  <a:srgbClr val="FFFFFF"/>
                </a:solidFill>
                <a:latin typeface="Aptos"/>
                <a:ea typeface="Aptos"/>
                <a:cs typeface="Aptos"/>
              </a:rPr>
              <a:t>Vận hành và What-if.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8DBEF7-1FA3-4F47-844C-C50C3BCC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1800">
                <a:solidFill>
                  <a:srgbClr val="A6DDC9"/>
                </a:solidFill>
                <a:latin typeface="Aptos"/>
                <a:ea typeface="Aptos"/>
                <a:cs typeface="Aptos"/>
              </a:defRPr>
            </a:defPPr>
            <a:lvl1pPr algn="l">
              <a:defRPr sz="180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1pPr>
            <a:lvl2pPr algn="l">
              <a:defRPr sz="180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2pPr>
            <a:lvl3pPr algn="l">
              <a:defRPr sz="180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3pPr>
            <a:lvl4pPr algn="l">
              <a:defRPr sz="180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4pPr>
            <a:lvl5pPr algn="l">
              <a:defRPr sz="180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5pPr>
            <a:lvl6pPr algn="l">
              <a:defRPr sz="180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6pPr>
            <a:lvl7pPr algn="l">
              <a:defRPr sz="180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7pPr>
            <a:lvl8pPr algn="l">
              <a:defRPr sz="180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8pPr>
            <a:lvl9pPr algn="l">
              <a:defRPr sz="1800">
                <a:solidFill>
                  <a:srgbClr val="A6DDC9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1800">
                <a:solidFill>
                  <a:srgbClr val="A6DDC9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A6DDC9"/>
                </a:solidFill>
                <a:latin typeface="Aptos"/>
                <a:ea typeface="Aptos"/>
                <a:cs typeface="Aptos"/>
              </a:rPr>
              <a:t>Phát Demo-3-phut.mp4 trong bộ bàn giao · Giọng đọc tổng hợp Linh</a:t>
            </a:r>
          </a:p>
        </p:txBody>
      </p:sp>
    </p:spTree>
    <p:extLst>
      <p:ext uri="{BB962C8B-B14F-4D97-AF65-F5344CB8AC3E}">
        <p14:creationId xmlns:p14="http://schemas.microsoft.com/office/powerpoint/2010/main" val="9357547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32C659-2DEA-499B-B1A6-B4D0DFD5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defPPr>
            <a:lvl1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1pPr>
            <a:lvl2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2pPr>
            <a:lvl3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3pPr>
            <a:lvl4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4pPr>
            <a:lvl5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5pPr>
            <a:lvl6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6pPr>
            <a:lvl7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7pPr>
            <a:lvl8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8pPr>
            <a:lvl9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2F38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02F38"/>
                </a:solidFill>
                <a:latin typeface="Aptos"/>
                <a:ea typeface="Aptos"/>
                <a:cs typeface="Aptos"/>
              </a:rPr>
              <a:t>Giới hạn và trách nhiệm của nhóm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7AEE2-0DB8-4A53-803E-95B17E93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7A64"/>
                </a:solidFill>
                <a:latin typeface="Aptos"/>
                <a:ea typeface="Aptos"/>
                <a:cs typeface="Aptos"/>
              </a:rPr>
              <a:t>Mô hình và vận hành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EC241-47B4-48CC-AFEA-43AD6140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10668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Chưa hiệu chuẩn nhu cầu hoặc mô phỏng năng lượng thật.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Chưa đo tải production, cứu hộ trip hoặc tự phân bổ sạc.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DB74A-4C18-41B1-8132-C1A20A51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0668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defPPr>
            <a:lvl1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1pPr>
            <a:lvl2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2pPr>
            <a:lvl3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3pPr>
            <a:lvl4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4pPr>
            <a:lvl5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5pPr>
            <a:lvl6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6pPr>
            <a:lvl7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7pPr>
            <a:lvl8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8pPr>
            <a:lvl9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47A6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7A64"/>
                </a:solidFill>
                <a:latin typeface="Aptos"/>
                <a:ea typeface="Aptos"/>
                <a:cs typeface="Aptos"/>
              </a:rPr>
              <a:t>Generative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9BB60-41F2-4269-A16B-ACE0AFEC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10668000" cy="1190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defPPr>
            <a:lvl1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1pPr>
            <a:lvl2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2pPr>
            <a:lvl3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3pPr>
            <a:lvl4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4pPr>
            <a:lvl5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5pPr>
            <a:lvl6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6pPr>
            <a:lvl7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7pPr>
            <a:lvl8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8pPr>
            <a:lvl9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Codex hỗ trợ code, review, test và tài liệu.</a:t>
            </a:r>
          </a:p>
          <a:p xmlns:a="http://schemas.openxmlformats.org/drawingml/2006/main">
            <a:pPr algn="l">
              <a:defRPr sz="2250">
                <a:solidFill>
                  <a:srgbClr val="163943"/>
                </a:solidFill>
                <a:latin typeface="Aptos"/>
                <a:ea typeface="Aptos"/>
                <a:cs typeface="Aptos"/>
              </a:defRPr>
            </a:pPr>
            <a:r>
              <a:rPr sz="2250">
                <a:solidFill>
                  <a:srgbClr val="163943"/>
                </a:solidFill>
                <a:latin typeface="Aptos"/>
                <a:ea typeface="Aptos"/>
                <a:cs typeface="Aptos"/>
              </a:rPr>
              <a:t>Mỗi thành viên đọc, xác nhận và giải thích phần mình.</a:t>
            </a:r>
          </a:p>
        </p:txBody>
      </p:sp>
    </p:spTree>
    <p:extLst>
      <p:ext uri="{BB962C8B-B14F-4D97-AF65-F5344CB8AC3E}">
        <p14:creationId xmlns:p14="http://schemas.microsoft.com/office/powerpoint/2010/main" val="1395622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2026-10-29T12:11:08.2730000Z</dcterms:created>
  <dcterms:modified xsi:type="dcterms:W3CDTF">2026-10-29T12:11:08.2730000Z</dcterms:modified>
</coreProperties>
</file>